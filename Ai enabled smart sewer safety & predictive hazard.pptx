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4"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07D3EB-A3E2-459F-89ED-1C53004A6EB4}" v="14" dt="2026-02-14T13:29:58.6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8" d="100"/>
          <a:sy n="68"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50335-A9EC-2B24-813B-4BB7E6CA3E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AFFA09-738C-EF3F-821F-18124D177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F142E99-8BC6-8929-94C7-29DF53EF893B}"/>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a:extLst>
              <a:ext uri="{FF2B5EF4-FFF2-40B4-BE49-F238E27FC236}">
                <a16:creationId xmlns:a16="http://schemas.microsoft.com/office/drawing/2014/main" id="{566A78CE-F98A-4C2B-6BC0-BF665D838F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B58D7D-8308-0A9E-A325-477EC5E500D0}"/>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602167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D02EE-E072-A4B3-919E-F9F3E3DD38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C7BC3B-6673-7E42-EA00-FAC7EDFA5E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70EBA3-F2E0-C998-F9F4-B259E2772B9D}"/>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a:extLst>
              <a:ext uri="{FF2B5EF4-FFF2-40B4-BE49-F238E27FC236}">
                <a16:creationId xmlns:a16="http://schemas.microsoft.com/office/drawing/2014/main" id="{881F66A3-03E0-8B21-685B-E97D9B44B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F9C711-8B26-FC55-312B-C0158EF54F44}"/>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399579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F6BF3-B031-5000-4868-8FE9F88C6D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9A0A58-ABF4-1EAB-A5BC-58C47F12E3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55CF7D-5458-EEB0-8F82-CC7614693B1E}"/>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a:extLst>
              <a:ext uri="{FF2B5EF4-FFF2-40B4-BE49-F238E27FC236}">
                <a16:creationId xmlns:a16="http://schemas.microsoft.com/office/drawing/2014/main" id="{8691472F-9869-F933-9CA1-F017B908BB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ACBFBC-0077-4F53-4B2F-258C2369B5C2}"/>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276053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CD9A4-0015-A072-0DA7-B5C8747D52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1038FE-C456-AD72-A7A1-B5F90D0C21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964304D-C66C-F9D9-60D1-61650BAE99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1A838F-AFDF-9D7E-F08F-711AC06D66D9}"/>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6" name="Footer Placeholder 5">
            <a:extLst>
              <a:ext uri="{FF2B5EF4-FFF2-40B4-BE49-F238E27FC236}">
                <a16:creationId xmlns:a16="http://schemas.microsoft.com/office/drawing/2014/main" id="{B2645F97-68E2-33B0-A36C-B16B703830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5DAA1A-B70B-DBD9-908C-3F7506923591}"/>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2660055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1CAC4-1EAF-BCC9-AB2C-E425DA142D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0E8913-00E4-AF0F-8F56-F436ABA400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D438F8-08FD-8EA4-FEA2-53142C8BBB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3DE9A0-E724-1C80-1D9C-8057BF445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901444-5BDE-C8C3-15F2-E82BD3FEE5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4914EB-7797-747A-AF80-30CB048294F4}"/>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8" name="Footer Placeholder 7">
            <a:extLst>
              <a:ext uri="{FF2B5EF4-FFF2-40B4-BE49-F238E27FC236}">
                <a16:creationId xmlns:a16="http://schemas.microsoft.com/office/drawing/2014/main" id="{FD84B42D-0641-B89F-CC49-AF04839282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225B610-BBFE-D38A-782A-91BEA59AD303}"/>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019671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ED72C-002B-B706-7D6B-7CB9FB3BCD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4965AB2-12E0-92E9-C6FF-C2D148C84DAB}"/>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4" name="Footer Placeholder 3">
            <a:extLst>
              <a:ext uri="{FF2B5EF4-FFF2-40B4-BE49-F238E27FC236}">
                <a16:creationId xmlns:a16="http://schemas.microsoft.com/office/drawing/2014/main" id="{90A2AEBB-5A19-2A58-B70A-CA5B89EE79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0203D3-1946-536C-6D55-0AC47163238B}"/>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464321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169C29-BDE4-0A57-2323-5D3A290803F6}"/>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3" name="Footer Placeholder 2">
            <a:extLst>
              <a:ext uri="{FF2B5EF4-FFF2-40B4-BE49-F238E27FC236}">
                <a16:creationId xmlns:a16="http://schemas.microsoft.com/office/drawing/2014/main" id="{761B337E-7D28-BCEF-5563-04BAEAE6D9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E01F80-2B61-D473-69BF-04BEF3ED2713}"/>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1273376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EC55-CD07-2B06-7CEF-C5539F0665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4300957-C0A3-F617-6E92-979FC05FF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2E3DE7-CF75-8DAF-9B1C-8FDA55344D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F1C22B-5241-F624-20C4-5BC95912DB5D}"/>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6" name="Footer Placeholder 5">
            <a:extLst>
              <a:ext uri="{FF2B5EF4-FFF2-40B4-BE49-F238E27FC236}">
                <a16:creationId xmlns:a16="http://schemas.microsoft.com/office/drawing/2014/main" id="{6B72D18D-E177-3FDE-EED6-E2300BBFA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AF1F74-D7B8-8EA3-65C1-BAD13E5E8A6D}"/>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258421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B45CB-5A16-FF08-C137-C5AF06E1AC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04D28E-5ECB-B39F-5B16-2A03F3B70E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CD91AD-A29B-A3BA-C95F-39BB5BD66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B768B8-D3F7-9E8D-DEF9-E0DA43783D47}"/>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6" name="Footer Placeholder 5">
            <a:extLst>
              <a:ext uri="{FF2B5EF4-FFF2-40B4-BE49-F238E27FC236}">
                <a16:creationId xmlns:a16="http://schemas.microsoft.com/office/drawing/2014/main" id="{6C932904-6FD8-B2F4-5246-552C621060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F6822-D24F-CBC9-3533-03F12F64AF5E}"/>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906045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7C4B-A16B-79EC-95EE-17378CFCCB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F00295-9355-545D-1D1B-981F6EF48E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E849CB-6B7A-EFE9-F9D8-509A8B08B4E9}"/>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a:extLst>
              <a:ext uri="{FF2B5EF4-FFF2-40B4-BE49-F238E27FC236}">
                <a16:creationId xmlns:a16="http://schemas.microsoft.com/office/drawing/2014/main" id="{6D388997-DE2F-767E-BCF7-56DD0E13F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783EDC-01C4-DB31-3150-D3653DB1D6B8}"/>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3947884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35E3A3-E7FE-F585-3AEF-BCCD175769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F4BC1C-6125-B332-DCE3-686F5E17D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C07647-E497-443D-26A8-009A220B4919}"/>
              </a:ext>
            </a:extLst>
          </p:cNvPr>
          <p:cNvSpPr>
            <a:spLocks noGrp="1"/>
          </p:cNvSpPr>
          <p:nvPr>
            <p:ph type="dt" sz="half" idx="10"/>
          </p:nvPr>
        </p:nvSpPr>
        <p:spPr/>
        <p:txBody>
          <a:bodyPr/>
          <a:lstStyle/>
          <a:p>
            <a:fld id="{475FB7C3-80FB-4ABF-8BD2-90C9A401EC18}" type="datetimeFigureOut">
              <a:rPr lang="en-IN" smtClean="0"/>
              <a:t>14-02-2026</a:t>
            </a:fld>
            <a:endParaRPr lang="en-IN"/>
          </a:p>
        </p:txBody>
      </p:sp>
      <p:sp>
        <p:nvSpPr>
          <p:cNvPr id="5" name="Footer Placeholder 4">
            <a:extLst>
              <a:ext uri="{FF2B5EF4-FFF2-40B4-BE49-F238E27FC236}">
                <a16:creationId xmlns:a16="http://schemas.microsoft.com/office/drawing/2014/main" id="{FBF3D2B3-DD67-1C6F-A6B8-9FB43FCE41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4F16AF-3EB4-E0FC-7A7B-C3448DE884C5}"/>
              </a:ext>
            </a:extLst>
          </p:cNvPr>
          <p:cNvSpPr>
            <a:spLocks noGrp="1"/>
          </p:cNvSpPr>
          <p:nvPr>
            <p:ph type="sldNum" sz="quarter" idx="12"/>
          </p:nvPr>
        </p:nvSpPr>
        <p:spPr/>
        <p:txBody>
          <a:bodyPr/>
          <a:lstStyle/>
          <a:p>
            <a:fld id="{F1B21821-2D43-4F38-8FCE-207C269811EA}" type="slidenum">
              <a:rPr lang="en-IN" smtClean="0"/>
              <a:t>‹#›</a:t>
            </a:fld>
            <a:endParaRPr lang="en-IN"/>
          </a:p>
        </p:txBody>
      </p:sp>
    </p:spTree>
    <p:extLst>
      <p:ext uri="{BB962C8B-B14F-4D97-AF65-F5344CB8AC3E}">
        <p14:creationId xmlns:p14="http://schemas.microsoft.com/office/powerpoint/2010/main" val="4081707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A0C3E5-BE95-6971-755B-1812DA67F3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9ACC74-22F7-7BC7-ED3F-F0ABF1E0D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797AA8-2FB6-12BF-21B1-B9F681603F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5FB7C3-80FB-4ABF-8BD2-90C9A401EC18}" type="datetimeFigureOut">
              <a:rPr lang="en-IN" smtClean="0"/>
              <a:t>14-02-2026</a:t>
            </a:fld>
            <a:endParaRPr lang="en-IN"/>
          </a:p>
        </p:txBody>
      </p:sp>
      <p:sp>
        <p:nvSpPr>
          <p:cNvPr id="5" name="Footer Placeholder 4">
            <a:extLst>
              <a:ext uri="{FF2B5EF4-FFF2-40B4-BE49-F238E27FC236}">
                <a16:creationId xmlns:a16="http://schemas.microsoft.com/office/drawing/2014/main" id="{8401C3E2-9CEE-C61E-D587-04E7CF4C8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DDD9720-B5D1-24E0-6D62-00904ACF8B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B21821-2D43-4F38-8FCE-207C269811EA}" type="slidenum">
              <a:rPr lang="en-IN" smtClean="0"/>
              <a:t>‹#›</a:t>
            </a:fld>
            <a:endParaRPr lang="en-IN"/>
          </a:p>
        </p:txBody>
      </p:sp>
    </p:spTree>
    <p:extLst>
      <p:ext uri="{BB962C8B-B14F-4D97-AF65-F5344CB8AC3E}">
        <p14:creationId xmlns:p14="http://schemas.microsoft.com/office/powerpoint/2010/main" val="2938252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CA095-E352-0BB9-B06F-268E0F8DDFBD}"/>
              </a:ext>
            </a:extLst>
          </p:cNvPr>
          <p:cNvSpPr>
            <a:spLocks noGrp="1"/>
          </p:cNvSpPr>
          <p:nvPr>
            <p:ph type="ctrTitle"/>
          </p:nvPr>
        </p:nvSpPr>
        <p:spPr/>
        <p:txBody>
          <a:bodyPr>
            <a:normAutofit fontScale="90000"/>
          </a:bodyPr>
          <a:lstStyle/>
          <a:p>
            <a:r>
              <a:rPr lang="en-US" dirty="0">
                <a:solidFill>
                  <a:srgbClr val="FF0000"/>
                </a:solidFill>
              </a:rPr>
              <a:t>Ai enabled smart sewer safety &amp; predictive hazard monitoring system</a:t>
            </a:r>
            <a:endParaRPr lang="en-IN" dirty="0">
              <a:solidFill>
                <a:srgbClr val="FF0000"/>
              </a:solidFill>
            </a:endParaRPr>
          </a:p>
        </p:txBody>
      </p:sp>
      <p:sp>
        <p:nvSpPr>
          <p:cNvPr id="3" name="Subtitle 2">
            <a:extLst>
              <a:ext uri="{FF2B5EF4-FFF2-40B4-BE49-F238E27FC236}">
                <a16:creationId xmlns:a16="http://schemas.microsoft.com/office/drawing/2014/main" id="{A041EBF7-91C4-3110-8045-326145AA8DF4}"/>
              </a:ext>
            </a:extLst>
          </p:cNvPr>
          <p:cNvSpPr>
            <a:spLocks noGrp="1"/>
          </p:cNvSpPr>
          <p:nvPr>
            <p:ph type="subTitle" idx="1"/>
          </p:nvPr>
        </p:nvSpPr>
        <p:spPr>
          <a:xfrm>
            <a:off x="4731433" y="3868616"/>
            <a:ext cx="5936567" cy="2630657"/>
          </a:xfrm>
        </p:spPr>
        <p:txBody>
          <a:bodyPr>
            <a:normAutofit fontScale="92500" lnSpcReduction="20000"/>
          </a:bodyPr>
          <a:lstStyle/>
          <a:p>
            <a:pPr algn="l"/>
            <a:r>
              <a:rPr lang="en-IN" dirty="0">
                <a:solidFill>
                  <a:schemeClr val="bg2">
                    <a:lumMod val="10000"/>
                  </a:schemeClr>
                </a:solidFill>
              </a:rPr>
              <a:t> </a:t>
            </a:r>
            <a:r>
              <a:rPr lang="en-IN" u="sng" dirty="0">
                <a:solidFill>
                  <a:schemeClr val="bg2">
                    <a:lumMod val="10000"/>
                  </a:schemeClr>
                </a:solidFill>
              </a:rPr>
              <a:t>Team members:</a:t>
            </a:r>
          </a:p>
          <a:p>
            <a:pPr algn="l"/>
            <a:r>
              <a:rPr lang="en-IN" dirty="0">
                <a:solidFill>
                  <a:schemeClr val="bg2">
                    <a:lumMod val="10000"/>
                  </a:schemeClr>
                </a:solidFill>
              </a:rPr>
              <a:t>1. </a:t>
            </a:r>
            <a:r>
              <a:rPr lang="en-IN" dirty="0" err="1">
                <a:solidFill>
                  <a:schemeClr val="bg2">
                    <a:lumMod val="10000"/>
                  </a:schemeClr>
                </a:solidFill>
              </a:rPr>
              <a:t>kiran.M</a:t>
            </a:r>
            <a:r>
              <a:rPr lang="en-IN" dirty="0">
                <a:solidFill>
                  <a:schemeClr val="bg2">
                    <a:lumMod val="10000"/>
                  </a:schemeClr>
                </a:solidFill>
              </a:rPr>
              <a:t>                               -31024106099</a:t>
            </a:r>
          </a:p>
          <a:p>
            <a:pPr algn="l"/>
            <a:r>
              <a:rPr lang="en-IN" dirty="0">
                <a:solidFill>
                  <a:schemeClr val="bg2">
                    <a:lumMod val="10000"/>
                  </a:schemeClr>
                </a:solidFill>
              </a:rPr>
              <a:t>2. </a:t>
            </a:r>
            <a:r>
              <a:rPr lang="en-IN" dirty="0" err="1">
                <a:solidFill>
                  <a:schemeClr val="bg2">
                    <a:lumMod val="10000"/>
                  </a:schemeClr>
                </a:solidFill>
              </a:rPr>
              <a:t>Kaviya.R</a:t>
            </a:r>
            <a:r>
              <a:rPr lang="en-IN" dirty="0">
                <a:solidFill>
                  <a:schemeClr val="bg2">
                    <a:lumMod val="10000"/>
                  </a:schemeClr>
                </a:solidFill>
              </a:rPr>
              <a:t>          	    -31024106096</a:t>
            </a:r>
          </a:p>
          <a:p>
            <a:pPr algn="l"/>
            <a:r>
              <a:rPr lang="en-IN" dirty="0">
                <a:solidFill>
                  <a:schemeClr val="bg2">
                    <a:lumMod val="10000"/>
                  </a:schemeClr>
                </a:solidFill>
              </a:rPr>
              <a:t>3. </a:t>
            </a:r>
            <a:r>
              <a:rPr lang="en-IN" dirty="0" err="1">
                <a:solidFill>
                  <a:schemeClr val="bg2">
                    <a:lumMod val="10000"/>
                  </a:schemeClr>
                </a:solidFill>
              </a:rPr>
              <a:t>Bebith</a:t>
            </a:r>
            <a:r>
              <a:rPr lang="en-IN" dirty="0">
                <a:solidFill>
                  <a:schemeClr val="bg2">
                    <a:lumMod val="10000"/>
                  </a:schemeClr>
                </a:solidFill>
              </a:rPr>
              <a:t> Joseph                  -31024106602</a:t>
            </a:r>
          </a:p>
          <a:p>
            <a:pPr algn="l"/>
            <a:r>
              <a:rPr lang="en-IN" dirty="0">
                <a:solidFill>
                  <a:schemeClr val="bg2">
                    <a:lumMod val="10000"/>
                  </a:schemeClr>
                </a:solidFill>
              </a:rPr>
              <a:t>4. </a:t>
            </a:r>
            <a:r>
              <a:rPr lang="en-IN" dirty="0" err="1">
                <a:solidFill>
                  <a:schemeClr val="bg2">
                    <a:lumMod val="10000"/>
                  </a:schemeClr>
                </a:solidFill>
              </a:rPr>
              <a:t>Harivignesh</a:t>
            </a:r>
            <a:r>
              <a:rPr lang="en-IN" dirty="0">
                <a:solidFill>
                  <a:schemeClr val="bg2">
                    <a:lumMod val="10000"/>
                  </a:schemeClr>
                </a:solidFill>
              </a:rPr>
              <a:t> K.S 	     -31024106065</a:t>
            </a:r>
          </a:p>
          <a:p>
            <a:pPr algn="l"/>
            <a:r>
              <a:rPr lang="en-IN" dirty="0">
                <a:solidFill>
                  <a:schemeClr val="bg2">
                    <a:lumMod val="10000"/>
                  </a:schemeClr>
                </a:solidFill>
              </a:rPr>
              <a:t>5. </a:t>
            </a:r>
            <a:r>
              <a:rPr lang="en-IN" dirty="0" err="1">
                <a:solidFill>
                  <a:schemeClr val="bg2">
                    <a:lumMod val="10000"/>
                  </a:schemeClr>
                </a:solidFill>
              </a:rPr>
              <a:t>Harrshetha</a:t>
            </a:r>
            <a:r>
              <a:rPr lang="en-IN" dirty="0">
                <a:solidFill>
                  <a:schemeClr val="bg2">
                    <a:lumMod val="10000"/>
                  </a:schemeClr>
                </a:solidFill>
              </a:rPr>
              <a:t> Pradeep	     -31024106066</a:t>
            </a:r>
          </a:p>
          <a:p>
            <a:pPr algn="l"/>
            <a:r>
              <a:rPr lang="en-IN" dirty="0">
                <a:solidFill>
                  <a:schemeClr val="bg2">
                    <a:lumMod val="10000"/>
                  </a:schemeClr>
                </a:solidFill>
              </a:rPr>
              <a:t>6. Lakshmi </a:t>
            </a:r>
            <a:r>
              <a:rPr lang="en-IN" dirty="0" err="1">
                <a:solidFill>
                  <a:schemeClr val="bg2">
                    <a:lumMod val="10000"/>
                  </a:schemeClr>
                </a:solidFill>
              </a:rPr>
              <a:t>Narayanan.V</a:t>
            </a:r>
            <a:r>
              <a:rPr lang="en-IN" dirty="0">
                <a:solidFill>
                  <a:schemeClr val="bg2">
                    <a:lumMod val="10000"/>
                  </a:schemeClr>
                </a:solidFill>
              </a:rPr>
              <a:t>   -31024106106</a:t>
            </a:r>
          </a:p>
        </p:txBody>
      </p:sp>
    </p:spTree>
    <p:extLst>
      <p:ext uri="{BB962C8B-B14F-4D97-AF65-F5344CB8AC3E}">
        <p14:creationId xmlns:p14="http://schemas.microsoft.com/office/powerpoint/2010/main" val="343548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7C448-7816-68B2-1B6A-B2C1B42BB2D3}"/>
              </a:ext>
            </a:extLst>
          </p:cNvPr>
          <p:cNvSpPr>
            <a:spLocks noGrp="1"/>
          </p:cNvSpPr>
          <p:nvPr>
            <p:ph type="title"/>
          </p:nvPr>
        </p:nvSpPr>
        <p:spPr>
          <a:xfrm>
            <a:off x="838200" y="0"/>
            <a:ext cx="10515600" cy="1325563"/>
          </a:xfrm>
        </p:spPr>
        <p:txBody>
          <a:bodyPr/>
          <a:lstStyle/>
          <a:p>
            <a:r>
              <a:rPr lang="en-IN" dirty="0">
                <a:solidFill>
                  <a:srgbClr val="FF0000"/>
                </a:solidFill>
              </a:rPr>
              <a:t> Introduction</a:t>
            </a:r>
          </a:p>
        </p:txBody>
      </p:sp>
      <p:sp>
        <p:nvSpPr>
          <p:cNvPr id="3" name="Content Placeholder 2">
            <a:extLst>
              <a:ext uri="{FF2B5EF4-FFF2-40B4-BE49-F238E27FC236}">
                <a16:creationId xmlns:a16="http://schemas.microsoft.com/office/drawing/2014/main" id="{C9CD72B1-104D-8126-6F1F-21CC7ABBDA4D}"/>
              </a:ext>
            </a:extLst>
          </p:cNvPr>
          <p:cNvSpPr>
            <a:spLocks noGrp="1"/>
          </p:cNvSpPr>
          <p:nvPr>
            <p:ph idx="1"/>
          </p:nvPr>
        </p:nvSpPr>
        <p:spPr>
          <a:xfrm>
            <a:off x="838200" y="1286933"/>
            <a:ext cx="10515600" cy="4890030"/>
          </a:xfrm>
        </p:spPr>
        <p:txBody>
          <a:bodyPr/>
          <a:lstStyle/>
          <a:p>
            <a:r>
              <a:rPr lang="en-US" dirty="0"/>
              <a:t>Sewer systems are a critical part of urban infrastructure. However, sewer maintenance is one of the most dangerous occupations due to toxic gases, oxygen deficiency, and structural hazards. Many accidents occur because workers enter manholes without real-time environmental monitoring.</a:t>
            </a:r>
          </a:p>
          <a:p>
            <a:r>
              <a:rPr lang="en-US" dirty="0"/>
              <a:t>An AI Enabled Smart Sewer Safety &amp; Predictive Hazard Monitoring System is designed to monitor sewer conditions in real time, detect hazardous gases, predict dangerous situations using Artificial Intelligence (AI), and prevent accidents before they happen.</a:t>
            </a:r>
            <a:endParaRPr lang="en-IN" dirty="0"/>
          </a:p>
        </p:txBody>
      </p:sp>
    </p:spTree>
    <p:extLst>
      <p:ext uri="{BB962C8B-B14F-4D97-AF65-F5344CB8AC3E}">
        <p14:creationId xmlns:p14="http://schemas.microsoft.com/office/powerpoint/2010/main" val="27362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51F5-1A50-6767-443C-E2CFEAFB2905}"/>
              </a:ext>
            </a:extLst>
          </p:cNvPr>
          <p:cNvSpPr>
            <a:spLocks noGrp="1"/>
          </p:cNvSpPr>
          <p:nvPr>
            <p:ph type="title"/>
          </p:nvPr>
        </p:nvSpPr>
        <p:spPr/>
        <p:txBody>
          <a:bodyPr/>
          <a:lstStyle/>
          <a:p>
            <a:r>
              <a:rPr lang="en-US" dirty="0">
                <a:solidFill>
                  <a:srgbClr val="FF0000"/>
                </a:solidFill>
              </a:rPr>
              <a:t>Problem </a:t>
            </a:r>
            <a:r>
              <a:rPr lang="en-US" dirty="0" err="1">
                <a:solidFill>
                  <a:srgbClr val="FF0000"/>
                </a:solidFill>
              </a:rPr>
              <a:t>StatementManual</a:t>
            </a:r>
            <a:r>
              <a:rPr lang="en-US" dirty="0">
                <a:solidFill>
                  <a:srgbClr val="FF0000"/>
                </a:solidFill>
              </a:rPr>
              <a:t> sewer inspection involves:</a:t>
            </a:r>
            <a:endParaRPr lang="en-IN" dirty="0">
              <a:solidFill>
                <a:srgbClr val="FF0000"/>
              </a:solidFill>
            </a:endParaRPr>
          </a:p>
        </p:txBody>
      </p:sp>
      <p:sp>
        <p:nvSpPr>
          <p:cNvPr id="3" name="Content Placeholder 2">
            <a:extLst>
              <a:ext uri="{FF2B5EF4-FFF2-40B4-BE49-F238E27FC236}">
                <a16:creationId xmlns:a16="http://schemas.microsoft.com/office/drawing/2014/main" id="{913B9ACA-D187-09CA-DB91-B65455D73E01}"/>
              </a:ext>
            </a:extLst>
          </p:cNvPr>
          <p:cNvSpPr>
            <a:spLocks noGrp="1"/>
          </p:cNvSpPr>
          <p:nvPr>
            <p:ph idx="1"/>
          </p:nvPr>
        </p:nvSpPr>
        <p:spPr/>
        <p:txBody>
          <a:bodyPr/>
          <a:lstStyle/>
          <a:p>
            <a:pPr marL="514350" indent="-514350">
              <a:buFont typeface="+mj-lt"/>
              <a:buAutoNum type="arabicPeriod"/>
            </a:pPr>
            <a:r>
              <a:rPr lang="en-IN" dirty="0"/>
              <a:t>Exposure to toxic gases like Hydrogen </a:t>
            </a:r>
            <a:r>
              <a:rPr lang="en-IN" dirty="0" err="1"/>
              <a:t>Sulfide</a:t>
            </a:r>
            <a:r>
              <a:rPr lang="en-IN" dirty="0"/>
              <a:t> (H₂S)Methane gas </a:t>
            </a:r>
            <a:r>
              <a:rPr lang="en-IN" dirty="0" err="1"/>
              <a:t>accumulationOxygen</a:t>
            </a:r>
            <a:r>
              <a:rPr lang="en-IN" dirty="0"/>
              <a:t> </a:t>
            </a:r>
            <a:r>
              <a:rPr lang="en-IN" dirty="0" err="1"/>
              <a:t>deficiencyRisk</a:t>
            </a:r>
            <a:r>
              <a:rPr lang="en-IN" dirty="0"/>
              <a:t> of </a:t>
            </a:r>
            <a:r>
              <a:rPr lang="en-IN" dirty="0" err="1"/>
              <a:t>explosionSudden</a:t>
            </a:r>
            <a:r>
              <a:rPr lang="en-IN" dirty="0"/>
              <a:t> </a:t>
            </a:r>
            <a:r>
              <a:rPr lang="en-IN" dirty="0" err="1"/>
              <a:t>floodingStructural</a:t>
            </a:r>
            <a:r>
              <a:rPr lang="en-IN" dirty="0"/>
              <a:t> collapse</a:t>
            </a:r>
          </a:p>
          <a:p>
            <a:pPr marL="514350" indent="-514350">
              <a:buAutoNum type="arabicPeriod"/>
            </a:pPr>
            <a:r>
              <a:rPr lang="en-US" dirty="0"/>
              <a:t>No continuous monitoring.</a:t>
            </a:r>
          </a:p>
          <a:p>
            <a:pPr marL="514350" indent="-514350">
              <a:buAutoNum type="arabicPeriod"/>
            </a:pPr>
            <a:r>
              <a:rPr lang="en-US" dirty="0"/>
              <a:t>No early warning system.</a:t>
            </a:r>
          </a:p>
          <a:p>
            <a:pPr marL="514350" indent="-514350">
              <a:buAutoNum type="arabicPeriod"/>
            </a:pPr>
            <a:r>
              <a:rPr lang="en-US" dirty="0"/>
              <a:t>Human-dependent safety checks.</a:t>
            </a:r>
          </a:p>
          <a:p>
            <a:pPr marL="514350" indent="-514350">
              <a:buAutoNum type="arabicPeriod"/>
            </a:pPr>
            <a:r>
              <a:rPr lang="en-US" dirty="0"/>
              <a:t>Lack of predictive analysis</a:t>
            </a:r>
          </a:p>
          <a:p>
            <a:pPr marL="514350" indent="-514350">
              <a:buAutoNum type="arabicPeriod"/>
            </a:pPr>
            <a:r>
              <a:rPr lang="en-US" dirty="0"/>
              <a:t>Delayed emergency response.</a:t>
            </a:r>
            <a:endParaRPr lang="en-IN" dirty="0"/>
          </a:p>
        </p:txBody>
      </p:sp>
    </p:spTree>
    <p:extLst>
      <p:ext uri="{BB962C8B-B14F-4D97-AF65-F5344CB8AC3E}">
        <p14:creationId xmlns:p14="http://schemas.microsoft.com/office/powerpoint/2010/main" val="3570637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3A3C8-8DB1-2627-74E7-7548DB06E3CC}"/>
              </a:ext>
            </a:extLst>
          </p:cNvPr>
          <p:cNvSpPr>
            <a:spLocks noGrp="1"/>
          </p:cNvSpPr>
          <p:nvPr>
            <p:ph type="title"/>
          </p:nvPr>
        </p:nvSpPr>
        <p:spPr/>
        <p:txBody>
          <a:bodyPr/>
          <a:lstStyle/>
          <a:p>
            <a:r>
              <a:rPr lang="en-IN" dirty="0"/>
              <a:t> </a:t>
            </a:r>
            <a:r>
              <a:rPr lang="en-IN" dirty="0">
                <a:solidFill>
                  <a:srgbClr val="FF0000"/>
                </a:solidFill>
              </a:rPr>
              <a:t>Objectives</a:t>
            </a:r>
            <a:br>
              <a:rPr lang="en-IN" dirty="0"/>
            </a:br>
            <a:endParaRPr lang="en-IN" dirty="0"/>
          </a:p>
        </p:txBody>
      </p:sp>
      <p:sp>
        <p:nvSpPr>
          <p:cNvPr id="3" name="Content Placeholder 2">
            <a:extLst>
              <a:ext uri="{FF2B5EF4-FFF2-40B4-BE49-F238E27FC236}">
                <a16:creationId xmlns:a16="http://schemas.microsoft.com/office/drawing/2014/main" id="{CC763C32-6EBE-29DB-9AD2-96218B2652FB}"/>
              </a:ext>
            </a:extLst>
          </p:cNvPr>
          <p:cNvSpPr>
            <a:spLocks noGrp="1"/>
          </p:cNvSpPr>
          <p:nvPr>
            <p:ph idx="1"/>
          </p:nvPr>
        </p:nvSpPr>
        <p:spPr>
          <a:xfrm>
            <a:off x="838200" y="1825625"/>
            <a:ext cx="5257800" cy="4351338"/>
          </a:xfrm>
        </p:spPr>
        <p:txBody>
          <a:bodyPr/>
          <a:lstStyle/>
          <a:p>
            <a:r>
              <a:rPr lang="en-US" dirty="0"/>
              <a:t>The main objective of this system is to ensure worker safety and prevent sewer hazards. It aims to detect toxic gases, monitor water levels, predict blockages, reduce manual inspection, and provide real-time alerts to authorities.</a:t>
            </a:r>
            <a:endParaRPr lang="en-IN" dirty="0"/>
          </a:p>
        </p:txBody>
      </p:sp>
      <p:pic>
        <p:nvPicPr>
          <p:cNvPr id="1026" name="Picture 2" descr="AI-Powered Hazard Detection Benefiting Construction Sites">
            <a:extLst>
              <a:ext uri="{FF2B5EF4-FFF2-40B4-BE49-F238E27FC236}">
                <a16:creationId xmlns:a16="http://schemas.microsoft.com/office/drawing/2014/main" id="{5C6D6835-F732-256F-379F-D2247BC84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2896" y="1598613"/>
            <a:ext cx="4322587" cy="3660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857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4C17-02B5-FC5C-79A1-95DBC7BC4171}"/>
              </a:ext>
            </a:extLst>
          </p:cNvPr>
          <p:cNvSpPr>
            <a:spLocks noGrp="1"/>
          </p:cNvSpPr>
          <p:nvPr>
            <p:ph type="title"/>
          </p:nvPr>
        </p:nvSpPr>
        <p:spPr>
          <a:xfrm>
            <a:off x="550333" y="441326"/>
            <a:ext cx="10515600" cy="786342"/>
          </a:xfrm>
        </p:spPr>
        <p:txBody>
          <a:bodyPr>
            <a:normAutofit fontScale="90000"/>
          </a:bodyPr>
          <a:lstStyle/>
          <a:p>
            <a:r>
              <a:rPr lang="en-IN" dirty="0">
                <a:solidFill>
                  <a:srgbClr val="FF0000"/>
                </a:solidFill>
              </a:rPr>
              <a:t> System Architecture</a:t>
            </a:r>
            <a:br>
              <a:rPr lang="en-IN" dirty="0"/>
            </a:br>
            <a:endParaRPr lang="en-IN" dirty="0"/>
          </a:p>
        </p:txBody>
      </p:sp>
      <p:sp>
        <p:nvSpPr>
          <p:cNvPr id="3" name="Content Placeholder 2">
            <a:extLst>
              <a:ext uri="{FF2B5EF4-FFF2-40B4-BE49-F238E27FC236}">
                <a16:creationId xmlns:a16="http://schemas.microsoft.com/office/drawing/2014/main" id="{ED879C06-2CE8-8ECF-1E1B-7D7C3E99082E}"/>
              </a:ext>
            </a:extLst>
          </p:cNvPr>
          <p:cNvSpPr>
            <a:spLocks noGrp="1"/>
          </p:cNvSpPr>
          <p:nvPr>
            <p:ph idx="1"/>
          </p:nvPr>
        </p:nvSpPr>
        <p:spPr>
          <a:xfrm>
            <a:off x="550333" y="1049867"/>
            <a:ext cx="10515600" cy="6680200"/>
          </a:xfrm>
        </p:spPr>
        <p:txBody>
          <a:bodyPr/>
          <a:lstStyle/>
          <a:p>
            <a:r>
              <a:rPr lang="en-IN" dirty="0"/>
              <a:t>The hardware includes gas sensors (H₂S, CH₄, CO), ultrasonic water level sensor, temperature sensor, Arduino/Raspberry Pi, and communication module.</a:t>
            </a:r>
            <a:br>
              <a:rPr lang="en-IN" dirty="0"/>
            </a:br>
            <a:r>
              <a:rPr lang="en-IN" dirty="0"/>
              <a:t>The software includes a cloud database, machine learning algorithms, anomaly detection models, and a web/mobile dashboard.</a:t>
            </a:r>
          </a:p>
          <a:p>
            <a:r>
              <a:rPr lang="en-US" dirty="0"/>
              <a:t>The system consists of three layers:</a:t>
            </a:r>
          </a:p>
          <a:p>
            <a:pPr marL="571500" indent="-571500">
              <a:buFont typeface="+mj-lt"/>
              <a:buAutoNum type="romanLcPeriod"/>
            </a:pPr>
            <a:r>
              <a:rPr lang="en-US" dirty="0"/>
              <a:t>Sensor Layer – Gas, water level, and temperature sensors collect data.</a:t>
            </a:r>
          </a:p>
          <a:p>
            <a:pPr marL="571500" indent="-571500">
              <a:buFont typeface="+mj-lt"/>
              <a:buAutoNum type="romanLcPeriod"/>
            </a:pPr>
            <a:r>
              <a:rPr lang="en-US" dirty="0"/>
              <a:t>Communication Layer – IoT modules transmit data to the cloud.</a:t>
            </a:r>
          </a:p>
          <a:p>
            <a:pPr marL="571500" indent="-571500">
              <a:buFont typeface="+mj-lt"/>
              <a:buAutoNum type="romanLcPeriod"/>
            </a:pPr>
            <a:r>
              <a:rPr lang="en-US" dirty="0"/>
              <a:t>AI Processing Layer – Machine learning algorithms analyze data and generate alerts via a dashboard.</a:t>
            </a:r>
          </a:p>
          <a:p>
            <a:endParaRPr lang="en-IN" dirty="0"/>
          </a:p>
        </p:txBody>
      </p:sp>
    </p:spTree>
    <p:extLst>
      <p:ext uri="{BB962C8B-B14F-4D97-AF65-F5344CB8AC3E}">
        <p14:creationId xmlns:p14="http://schemas.microsoft.com/office/powerpoint/2010/main" val="3911007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B80FC-6966-A002-652F-1AE1468A338E}"/>
              </a:ext>
            </a:extLst>
          </p:cNvPr>
          <p:cNvSpPr>
            <a:spLocks noGrp="1"/>
          </p:cNvSpPr>
          <p:nvPr>
            <p:ph type="title"/>
          </p:nvPr>
        </p:nvSpPr>
        <p:spPr/>
        <p:txBody>
          <a:bodyPr/>
          <a:lstStyle/>
          <a:p>
            <a:r>
              <a:rPr lang="en-IN" dirty="0">
                <a:solidFill>
                  <a:srgbClr val="FF0000"/>
                </a:solidFill>
              </a:rPr>
              <a:t>Circuit diagram</a:t>
            </a:r>
          </a:p>
        </p:txBody>
      </p:sp>
      <p:pic>
        <p:nvPicPr>
          <p:cNvPr id="5" name="Content Placeholder 4">
            <a:extLst>
              <a:ext uri="{FF2B5EF4-FFF2-40B4-BE49-F238E27FC236}">
                <a16:creationId xmlns:a16="http://schemas.microsoft.com/office/drawing/2014/main" id="{6600D28E-6595-8697-4812-6AFFC5574028}"/>
              </a:ext>
            </a:extLst>
          </p:cNvPr>
          <p:cNvPicPr>
            <a:picLocks noGrp="1" noChangeAspect="1"/>
          </p:cNvPicPr>
          <p:nvPr>
            <p:ph idx="1"/>
          </p:nvPr>
        </p:nvPicPr>
        <p:blipFill>
          <a:blip r:embed="rId2"/>
          <a:stretch>
            <a:fillRect/>
          </a:stretch>
        </p:blipFill>
        <p:spPr>
          <a:xfrm>
            <a:off x="1820333" y="1430867"/>
            <a:ext cx="8280400" cy="4732866"/>
          </a:xfrm>
          <a:prstGeom prst="rect">
            <a:avLst/>
          </a:prstGeom>
        </p:spPr>
      </p:pic>
    </p:spTree>
    <p:extLst>
      <p:ext uri="{BB962C8B-B14F-4D97-AF65-F5344CB8AC3E}">
        <p14:creationId xmlns:p14="http://schemas.microsoft.com/office/powerpoint/2010/main" val="865625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BFC5-7BE9-6BBA-00AB-B5AB70EB0765}"/>
              </a:ext>
            </a:extLst>
          </p:cNvPr>
          <p:cNvSpPr>
            <a:spLocks noGrp="1"/>
          </p:cNvSpPr>
          <p:nvPr>
            <p:ph type="title"/>
          </p:nvPr>
        </p:nvSpPr>
        <p:spPr>
          <a:xfrm>
            <a:off x="313268" y="365125"/>
            <a:ext cx="11040532" cy="1325563"/>
          </a:xfrm>
        </p:spPr>
        <p:txBody>
          <a:bodyPr/>
          <a:lstStyle/>
          <a:p>
            <a:r>
              <a:rPr lang="en-IN" dirty="0">
                <a:solidFill>
                  <a:srgbClr val="FF0000"/>
                </a:solidFill>
              </a:rPr>
              <a:t>Key Features &amp; Predictive Monitoring</a:t>
            </a:r>
          </a:p>
        </p:txBody>
      </p:sp>
      <p:sp>
        <p:nvSpPr>
          <p:cNvPr id="3" name="Content Placeholder 2">
            <a:extLst>
              <a:ext uri="{FF2B5EF4-FFF2-40B4-BE49-F238E27FC236}">
                <a16:creationId xmlns:a16="http://schemas.microsoft.com/office/drawing/2014/main" id="{7B29C7F7-3C36-2CC6-6A5D-1CD80DB79783}"/>
              </a:ext>
            </a:extLst>
          </p:cNvPr>
          <p:cNvSpPr>
            <a:spLocks noGrp="1"/>
          </p:cNvSpPr>
          <p:nvPr>
            <p:ph idx="1"/>
          </p:nvPr>
        </p:nvSpPr>
        <p:spPr>
          <a:xfrm>
            <a:off x="313268" y="1825625"/>
            <a:ext cx="5232400" cy="4351338"/>
          </a:xfrm>
        </p:spPr>
        <p:txBody>
          <a:bodyPr/>
          <a:lstStyle/>
          <a:p>
            <a:r>
              <a:rPr lang="en-US" dirty="0"/>
              <a:t>The system provides real-time gas detection, overflow monitoring, remote dashboard access, automated alerts, and predictive maintenance. AI analyzes historical data to forecast blockages and infrastructure failure before they occur.</a:t>
            </a:r>
          </a:p>
          <a:p>
            <a:endParaRPr lang="en-IN" dirty="0"/>
          </a:p>
        </p:txBody>
      </p:sp>
      <p:pic>
        <p:nvPicPr>
          <p:cNvPr id="2050" name="Picture 2" descr="I&amp;T Solution - Design and Development of IoT Big Data Analytics Platform  for Smart Drainage – Flood Monitoring System 2020-04-27">
            <a:extLst>
              <a:ext uri="{FF2B5EF4-FFF2-40B4-BE49-F238E27FC236}">
                <a16:creationId xmlns:a16="http://schemas.microsoft.com/office/drawing/2014/main" id="{5BC3701D-4A54-3494-FA70-87B259D26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8556" y="1947333"/>
            <a:ext cx="6321778" cy="355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584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52707709-2A97-CF5B-97C7-DDF6CA626731}"/>
              </a:ext>
            </a:extLst>
          </p:cNvPr>
          <p:cNvSpPr>
            <a:spLocks noGrp="1"/>
          </p:cNvSpPr>
          <p:nvPr/>
        </p:nvSpPr>
        <p:spPr>
          <a:xfrm>
            <a:off x="5392099" y="-1121211"/>
            <a:ext cx="5520266" cy="48021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dirty="0"/>
              <a:t>Disadvantage:</a:t>
            </a:r>
          </a:p>
        </p:txBody>
      </p:sp>
      <p:sp>
        <p:nvSpPr>
          <p:cNvPr id="26" name="Content Placeholder 2">
            <a:extLst>
              <a:ext uri="{FF2B5EF4-FFF2-40B4-BE49-F238E27FC236}">
                <a16:creationId xmlns:a16="http://schemas.microsoft.com/office/drawing/2014/main" id="{CE593EEE-FB8E-68AA-F3F7-4F9FEB3C8749}"/>
              </a:ext>
            </a:extLst>
          </p:cNvPr>
          <p:cNvSpPr>
            <a:spLocks noGrp="1"/>
          </p:cNvSpPr>
          <p:nvPr/>
        </p:nvSpPr>
        <p:spPr>
          <a:xfrm>
            <a:off x="745075" y="1632818"/>
            <a:ext cx="5181596" cy="480218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dirty="0"/>
              <a:t>Advantages</a:t>
            </a:r>
            <a:r>
              <a:rPr lang="en-IN" sz="1800" dirty="0"/>
              <a:t>:</a:t>
            </a:r>
          </a:p>
        </p:txBody>
      </p:sp>
      <p:sp>
        <p:nvSpPr>
          <p:cNvPr id="27" name="Content Placeholder 3">
            <a:extLst>
              <a:ext uri="{FF2B5EF4-FFF2-40B4-BE49-F238E27FC236}">
                <a16:creationId xmlns:a16="http://schemas.microsoft.com/office/drawing/2014/main" id="{52707709-2A97-CF5B-97C7-DDF6CA626731}"/>
              </a:ext>
            </a:extLst>
          </p:cNvPr>
          <p:cNvSpPr>
            <a:spLocks noGrp="1"/>
          </p:cNvSpPr>
          <p:nvPr/>
        </p:nvSpPr>
        <p:spPr>
          <a:xfrm>
            <a:off x="5926677" y="1632819"/>
            <a:ext cx="5520266" cy="48021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IN" dirty="0"/>
              <a:t>Disadvantage:</a:t>
            </a:r>
          </a:p>
        </p:txBody>
      </p:sp>
      <p:cxnSp>
        <p:nvCxnSpPr>
          <p:cNvPr id="28" name="Straight Connector 27">
            <a:extLst>
              <a:ext uri="{FF2B5EF4-FFF2-40B4-BE49-F238E27FC236}">
                <a16:creationId xmlns:a16="http://schemas.microsoft.com/office/drawing/2014/main" id="{09929512-C0D8-D63C-B4FF-D9D2A825231A}"/>
              </a:ext>
            </a:extLst>
          </p:cNvPr>
          <p:cNvCxnSpPr>
            <a:cxnSpLocks/>
          </p:cNvCxnSpPr>
          <p:nvPr/>
        </p:nvCxnSpPr>
        <p:spPr>
          <a:xfrm>
            <a:off x="745076" y="1632827"/>
            <a:ext cx="10701867" cy="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a:extLst>
              <a:ext uri="{FF2B5EF4-FFF2-40B4-BE49-F238E27FC236}">
                <a16:creationId xmlns:a16="http://schemas.microsoft.com/office/drawing/2014/main" id="{632273D8-CD0F-2ADB-D802-DF2CC705FE8A}"/>
              </a:ext>
            </a:extLst>
          </p:cNvPr>
          <p:cNvCxnSpPr>
            <a:cxnSpLocks/>
          </p:cNvCxnSpPr>
          <p:nvPr/>
        </p:nvCxnSpPr>
        <p:spPr>
          <a:xfrm>
            <a:off x="745076" y="1632827"/>
            <a:ext cx="0" cy="4802187"/>
          </a:xfrm>
          <a:prstGeom prst="line">
            <a:avLst/>
          </a:prstGeom>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CAFF5DCF-E72E-DDD1-5F61-89C3600891E4}"/>
              </a:ext>
            </a:extLst>
          </p:cNvPr>
          <p:cNvCxnSpPr>
            <a:cxnSpLocks/>
          </p:cNvCxnSpPr>
          <p:nvPr/>
        </p:nvCxnSpPr>
        <p:spPr>
          <a:xfrm>
            <a:off x="5926677" y="1632805"/>
            <a:ext cx="0" cy="4802199"/>
          </a:xfrm>
          <a:prstGeom prst="line">
            <a:avLst/>
          </a:prstGeom>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67AD1BBB-1E3D-9EDD-8F1E-42D693D4E46F}"/>
              </a:ext>
            </a:extLst>
          </p:cNvPr>
          <p:cNvCxnSpPr>
            <a:cxnSpLocks/>
          </p:cNvCxnSpPr>
          <p:nvPr/>
        </p:nvCxnSpPr>
        <p:spPr>
          <a:xfrm>
            <a:off x="11446943" y="1632827"/>
            <a:ext cx="0" cy="4802186"/>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3DB4E35D-B9E5-22E3-CEE6-8B76C830466E}"/>
              </a:ext>
            </a:extLst>
          </p:cNvPr>
          <p:cNvCxnSpPr>
            <a:cxnSpLocks/>
          </p:cNvCxnSpPr>
          <p:nvPr/>
        </p:nvCxnSpPr>
        <p:spPr>
          <a:xfrm>
            <a:off x="745076" y="6435014"/>
            <a:ext cx="10701867" cy="0"/>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85B2E954-DC04-4E1B-FEA0-7AB2FFDB0712}"/>
              </a:ext>
            </a:extLst>
          </p:cNvPr>
          <p:cNvCxnSpPr>
            <a:cxnSpLocks/>
          </p:cNvCxnSpPr>
          <p:nvPr/>
        </p:nvCxnSpPr>
        <p:spPr>
          <a:xfrm>
            <a:off x="745075" y="2109606"/>
            <a:ext cx="10701867" cy="0"/>
          </a:xfrm>
          <a:prstGeom prst="line">
            <a:avLst/>
          </a:prstGeom>
        </p:spPr>
        <p:style>
          <a:lnRef idx="3">
            <a:schemeClr val="dk1"/>
          </a:lnRef>
          <a:fillRef idx="0">
            <a:schemeClr val="dk1"/>
          </a:fillRef>
          <a:effectRef idx="2">
            <a:schemeClr val="dk1"/>
          </a:effectRef>
          <a:fontRef idx="minor">
            <a:schemeClr val="tx1"/>
          </a:fontRef>
        </p:style>
      </p:cxnSp>
      <p:sp>
        <p:nvSpPr>
          <p:cNvPr id="34" name="TextBox 29">
            <a:extLst>
              <a:ext uri="{FF2B5EF4-FFF2-40B4-BE49-F238E27FC236}">
                <a16:creationId xmlns:a16="http://schemas.microsoft.com/office/drawing/2014/main" id="{F420171F-445B-B2AD-A122-3CE7AD285DD4}"/>
              </a:ext>
            </a:extLst>
          </p:cNvPr>
          <p:cNvSpPr txBox="1"/>
          <p:nvPr/>
        </p:nvSpPr>
        <p:spPr>
          <a:xfrm>
            <a:off x="6079076" y="2422872"/>
            <a:ext cx="5181597" cy="369331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b="1" dirty="0"/>
              <a:t>High Initial Cost</a:t>
            </a:r>
            <a:br>
              <a:rPr lang="en-US" dirty="0"/>
            </a:br>
            <a:r>
              <a:rPr lang="en-US" dirty="0"/>
              <a:t>Sensors, AI modules, cloud servers, and installation are expensive.</a:t>
            </a:r>
          </a:p>
          <a:p>
            <a:pPr marL="285750" indent="-285750">
              <a:buFont typeface="Arial" panose="020B0604020202020204" pitchFamily="34" charset="0"/>
              <a:buChar char="•"/>
            </a:pPr>
            <a:r>
              <a:rPr lang="en-US" b="1" dirty="0"/>
              <a:t>Maintenance Required</a:t>
            </a:r>
            <a:br>
              <a:rPr lang="en-US" dirty="0"/>
            </a:br>
            <a:r>
              <a:rPr lang="en-US" dirty="0"/>
              <a:t>Sensors may fail due to water, dirt, corrosion, or bio-waste.</a:t>
            </a:r>
          </a:p>
          <a:p>
            <a:pPr marL="285750" indent="-285750">
              <a:buFont typeface="Arial" panose="020B0604020202020204" pitchFamily="34" charset="0"/>
              <a:buChar char="•"/>
            </a:pPr>
            <a:r>
              <a:rPr lang="en-US" b="1" dirty="0"/>
              <a:t>Power Dependency</a:t>
            </a:r>
            <a:br>
              <a:rPr lang="en-US" dirty="0"/>
            </a:br>
            <a:r>
              <a:rPr lang="en-US" dirty="0"/>
              <a:t>Needs reliable power or battery backup in underground areas.</a:t>
            </a:r>
          </a:p>
          <a:p>
            <a:pPr marL="285750" indent="-285750">
              <a:buFont typeface="Arial" panose="020B0604020202020204" pitchFamily="34" charset="0"/>
              <a:buChar char="•"/>
            </a:pPr>
            <a:r>
              <a:rPr lang="en-US" b="1" dirty="0"/>
              <a:t>Network Issues</a:t>
            </a:r>
            <a:br>
              <a:rPr lang="en-US" dirty="0"/>
            </a:br>
            <a:r>
              <a:rPr lang="en-US" dirty="0"/>
              <a:t>Internet or wireless signals may be weak inside sewers.</a:t>
            </a:r>
          </a:p>
          <a:p>
            <a:pPr marL="285750" indent="-285750">
              <a:buFont typeface="Arial" panose="020B0604020202020204" pitchFamily="34" charset="0"/>
              <a:buChar char="•"/>
            </a:pPr>
            <a:endParaRPr lang="en-IN" dirty="0"/>
          </a:p>
        </p:txBody>
      </p:sp>
      <p:sp>
        <p:nvSpPr>
          <p:cNvPr id="35" name="TextBox 30">
            <a:extLst>
              <a:ext uri="{FF2B5EF4-FFF2-40B4-BE49-F238E27FC236}">
                <a16:creationId xmlns:a16="http://schemas.microsoft.com/office/drawing/2014/main" id="{8D3D28F4-8D15-CADA-C7F2-7CC18D7BA4FF}"/>
              </a:ext>
            </a:extLst>
          </p:cNvPr>
          <p:cNvSpPr txBox="1"/>
          <p:nvPr/>
        </p:nvSpPr>
        <p:spPr>
          <a:xfrm>
            <a:off x="745069" y="2109594"/>
            <a:ext cx="5147721" cy="397031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Improves Worker Safety</a:t>
            </a:r>
            <a:br>
              <a:rPr lang="en-US" dirty="0"/>
            </a:br>
            <a:r>
              <a:rPr lang="en-US" dirty="0"/>
              <a:t>Detects harmful gases (CH₄, H₂S, CO₂) and alerts workers before entering dangerous zones.</a:t>
            </a:r>
          </a:p>
          <a:p>
            <a:pPr marL="285750" indent="-285750">
              <a:buFont typeface="Arial" panose="020B0604020202020204" pitchFamily="34" charset="0"/>
              <a:buChar char="•"/>
            </a:pPr>
            <a:r>
              <a:rPr lang="en-US" b="1" dirty="0"/>
              <a:t>Early Hazard Prediction</a:t>
            </a:r>
            <a:br>
              <a:rPr lang="en-US" dirty="0"/>
            </a:br>
            <a:r>
              <a:rPr lang="en-US" dirty="0"/>
              <a:t>AI analyzes trends to predict floods, toxic gas buildup, or equipment failure in advance.</a:t>
            </a:r>
          </a:p>
          <a:p>
            <a:pPr marL="285750" indent="-285750">
              <a:buFont typeface="Arial" panose="020B0604020202020204" pitchFamily="34" charset="0"/>
              <a:buChar char="•"/>
            </a:pPr>
            <a:r>
              <a:rPr lang="en-US" b="1" dirty="0"/>
              <a:t>Remote Access</a:t>
            </a:r>
            <a:br>
              <a:rPr lang="en-US" dirty="0"/>
            </a:br>
            <a:r>
              <a:rPr lang="en-US" dirty="0"/>
              <a:t>Engineers can monitor sewers from control rooms or mobile apps.</a:t>
            </a:r>
          </a:p>
          <a:p>
            <a:pPr marL="285750" indent="-285750">
              <a:buFont typeface="Arial" panose="020B0604020202020204" pitchFamily="34" charset="0"/>
              <a:buChar char="•"/>
            </a:pPr>
            <a:r>
              <a:rPr lang="en-US" b="1" dirty="0"/>
              <a:t>Cost Effective in Long Term</a:t>
            </a:r>
            <a:br>
              <a:rPr lang="en-US" dirty="0"/>
            </a:br>
            <a:r>
              <a:rPr lang="en-US" dirty="0"/>
              <a:t>Reduces medical costs, accidents, and emergency maintenance.</a:t>
            </a:r>
          </a:p>
        </p:txBody>
      </p:sp>
      <p:sp>
        <p:nvSpPr>
          <p:cNvPr id="51" name="TextBox 50">
            <a:extLst>
              <a:ext uri="{FF2B5EF4-FFF2-40B4-BE49-F238E27FC236}">
                <a16:creationId xmlns:a16="http://schemas.microsoft.com/office/drawing/2014/main" id="{18F6EEAE-1473-981F-9BEF-FEA371AFCE9F}"/>
              </a:ext>
            </a:extLst>
          </p:cNvPr>
          <p:cNvSpPr txBox="1"/>
          <p:nvPr/>
        </p:nvSpPr>
        <p:spPr>
          <a:xfrm>
            <a:off x="422033" y="240255"/>
            <a:ext cx="11347934" cy="769441"/>
          </a:xfrm>
          <a:prstGeom prst="rect">
            <a:avLst/>
          </a:prstGeom>
          <a:noFill/>
        </p:spPr>
        <p:txBody>
          <a:bodyPr wrap="square">
            <a:spAutoFit/>
          </a:bodyPr>
          <a:lstStyle/>
          <a:p>
            <a:r>
              <a:rPr lang="en-IN" sz="4400" dirty="0">
                <a:solidFill>
                  <a:srgbClr val="FF0000"/>
                </a:solidFill>
              </a:rPr>
              <a:t>Advantage &amp; Disadvantage</a:t>
            </a:r>
          </a:p>
        </p:txBody>
      </p:sp>
    </p:spTree>
    <p:extLst>
      <p:ext uri="{BB962C8B-B14F-4D97-AF65-F5344CB8AC3E}">
        <p14:creationId xmlns:p14="http://schemas.microsoft.com/office/powerpoint/2010/main" val="2385654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1D5C-2B4C-D785-6CE0-C8E710506B2D}"/>
              </a:ext>
            </a:extLst>
          </p:cNvPr>
          <p:cNvSpPr>
            <a:spLocks noGrp="1"/>
          </p:cNvSpPr>
          <p:nvPr>
            <p:ph type="title"/>
          </p:nvPr>
        </p:nvSpPr>
        <p:spPr/>
        <p:txBody>
          <a:bodyPr/>
          <a:lstStyle/>
          <a:p>
            <a:r>
              <a:rPr lang="en-IN" dirty="0">
                <a:solidFill>
                  <a:srgbClr val="FF0000"/>
                </a:solidFill>
              </a:rPr>
              <a:t>Conclusion &amp; Future Scope</a:t>
            </a:r>
            <a:br>
              <a:rPr lang="en-IN" dirty="0"/>
            </a:br>
            <a:endParaRPr lang="en-IN" dirty="0"/>
          </a:p>
        </p:txBody>
      </p:sp>
      <p:sp>
        <p:nvSpPr>
          <p:cNvPr id="3" name="Content Placeholder 2">
            <a:extLst>
              <a:ext uri="{FF2B5EF4-FFF2-40B4-BE49-F238E27FC236}">
                <a16:creationId xmlns:a16="http://schemas.microsoft.com/office/drawing/2014/main" id="{707D38A3-C721-D36F-69AD-58D1530DB1D2}"/>
              </a:ext>
            </a:extLst>
          </p:cNvPr>
          <p:cNvSpPr>
            <a:spLocks noGrp="1"/>
          </p:cNvSpPr>
          <p:nvPr>
            <p:ph idx="1"/>
          </p:nvPr>
        </p:nvSpPr>
        <p:spPr>
          <a:xfrm>
            <a:off x="838200" y="1825625"/>
            <a:ext cx="5435600" cy="4351338"/>
          </a:xfrm>
        </p:spPr>
        <p:txBody>
          <a:bodyPr/>
          <a:lstStyle/>
          <a:p>
            <a:r>
              <a:rPr lang="en-IN" dirty="0"/>
              <a:t>The AI-enabled smart sewer monitoring system provides a safe, intelligent, and efficient solution for urban sanitation challenges. Future enhancements may include AI-powered sewer robots, digital twin technology, and integration with smart city platforms.</a:t>
            </a:r>
          </a:p>
          <a:p>
            <a:endParaRPr lang="en-IN" dirty="0"/>
          </a:p>
        </p:txBody>
      </p:sp>
      <p:pic>
        <p:nvPicPr>
          <p:cNvPr id="3074" name="Picture 2" descr="Smart Water Monitoring System | Aphrodite Hills Resort">
            <a:extLst>
              <a:ext uri="{FF2B5EF4-FFF2-40B4-BE49-F238E27FC236}">
                <a16:creationId xmlns:a16="http://schemas.microsoft.com/office/drawing/2014/main" id="{BD3B0182-54CF-AFAD-FF31-50FE28D367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0139" y="2021946"/>
            <a:ext cx="4221161" cy="2814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127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580</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Ai enabled smart sewer safety &amp; predictive hazard monitoring system</vt:lpstr>
      <vt:lpstr> Introduction</vt:lpstr>
      <vt:lpstr>Problem StatementManual sewer inspection involves:</vt:lpstr>
      <vt:lpstr> Objectives </vt:lpstr>
      <vt:lpstr> System Architecture </vt:lpstr>
      <vt:lpstr>Circuit diagram</vt:lpstr>
      <vt:lpstr>Key Features &amp; Predictive Monitoring</vt:lpstr>
      <vt:lpstr>PowerPoint Presentation</vt:lpstr>
      <vt:lpstr>Conclusion &amp; Future Scope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kiran81106@outlook.com</dc:creator>
  <cp:lastModifiedBy>BEBITH JOSEPH</cp:lastModifiedBy>
  <cp:revision>4</cp:revision>
  <dcterms:created xsi:type="dcterms:W3CDTF">2026-02-14T12:26:24Z</dcterms:created>
  <dcterms:modified xsi:type="dcterms:W3CDTF">2026-02-14T15:28:58Z</dcterms:modified>
</cp:coreProperties>
</file>